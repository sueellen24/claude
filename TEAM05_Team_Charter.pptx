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2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CHARTER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2743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2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문제정의 &amp; 프로젝트 합의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046720" y="27432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SeSAC AI 기반 K-뷰티 인재양성 부트캠프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566928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BRANUPCAMPUS · EDUCOS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기업과제를 시작하기 전, 우리 팀이 같은 문제를 보고 있는지 한 장으로 정리합니다.</a:t>
            </a:r>
            <a:endParaRPr lang="en-US" sz="1200" dirty="0"/>
          </a:p>
        </p:txBody>
      </p:sp>
      <p:sp>
        <p:nvSpPr>
          <p:cNvPr id="7" name="InfoBar"/>
          <p:cNvSpPr/>
          <p:nvPr/>
        </p:nvSpPr>
        <p:spPr>
          <a:xfrm>
            <a:off x="457200" y="1280160"/>
            <a:ext cx="1127455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C2B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2801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/ 브랜드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1280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라파앤코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00200" y="1664208"/>
            <a:ext cx="2057400" cy="0"/>
          </a:xfrm>
          <a:prstGeom prst="line">
            <a:avLst/>
          </a:prstGeom>
          <a:noFill/>
          <a:ln w="9525">
            <a:solidFill>
              <a:srgbClr val="8C96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31920" y="12801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2801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05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92040" y="1664208"/>
            <a:ext cx="1143000" cy="0"/>
          </a:xfrm>
          <a:prstGeom prst="line">
            <a:avLst/>
          </a:prstGeom>
          <a:noFill/>
          <a:ln w="9525">
            <a:solidFill>
              <a:srgbClr val="8C96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12801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과제명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1280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69480" y="1664208"/>
            <a:ext cx="2331720" cy="0"/>
          </a:xfrm>
          <a:prstGeom prst="line">
            <a:avLst/>
          </a:prstGeom>
          <a:noFill/>
          <a:ln w="9525">
            <a:solidFill>
              <a:srgbClr val="8C96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75520" y="12801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작성일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0835640" y="12801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835640" y="1664208"/>
            <a:ext cx="777240" cy="0"/>
          </a:xfrm>
          <a:prstGeom prst="line">
            <a:avLst/>
          </a:prstGeom>
          <a:noFill/>
          <a:ln w="9525">
            <a:solidFill>
              <a:srgbClr val="8C968F"/>
            </a:solidFill>
            <a:prstDash val="solid"/>
          </a:ln>
        </p:spPr>
      </p:sp>
      <p:sp>
        <p:nvSpPr>
          <p:cNvPr id="20" name="Card01"/>
          <p:cNvSpPr/>
          <p:nvPr/>
        </p:nvSpPr>
        <p:spPr>
          <a:xfrm>
            <a:off x="457200" y="1965960"/>
            <a:ext cx="3108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C2BC"/>
            </a:solidFill>
            <a:prstDash val="solid"/>
          </a:ln>
        </p:spPr>
      </p:sp>
      <p:sp>
        <p:nvSpPr>
          <p:cNvPr id="21" name="Card01Header"/>
          <p:cNvSpPr/>
          <p:nvPr/>
        </p:nvSpPr>
        <p:spPr>
          <a:xfrm>
            <a:off x="457200" y="1965960"/>
            <a:ext cx="3108960" cy="384048"/>
          </a:xfrm>
          <a:prstGeom prst="rect">
            <a:avLst/>
          </a:prstGeom>
          <a:solidFill>
            <a:srgbClr val="E6EDE6"/>
          </a:solidFill>
          <a:ln w="12700">
            <a:solidFill>
              <a:srgbClr val="B8C2B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19659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8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19659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케이스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240280" y="19659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BUSINESS CASE</a:t>
            </a:r>
            <a:endParaRPr lang="en-US" sz="850" dirty="0"/>
          </a:p>
        </p:txBody>
      </p:sp>
      <p:sp>
        <p:nvSpPr>
          <p:cNvPr id="25" name="Card01Body"/>
          <p:cNvSpPr txBox="1"/>
          <p:nvPr/>
        </p:nvSpPr>
        <p:spPr>
          <a:xfrm>
            <a:off x="621792" y="2441448"/>
            <a:ext cx="27797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과제를 해야 하는가? 기업·고객·시장 관점에서 해결 필요성과 기대 가치를 자유롭게 적습니다.</a:t>
            </a:r>
            <a:endParaRPr lang="en-US" sz="1050" dirty="0"/>
          </a:p>
        </p:txBody>
      </p:sp>
      <p:sp>
        <p:nvSpPr>
          <p:cNvPr id="26" name="Card02"/>
          <p:cNvSpPr/>
          <p:nvPr/>
        </p:nvSpPr>
        <p:spPr>
          <a:xfrm>
            <a:off x="3749040" y="1965960"/>
            <a:ext cx="3383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C2BC"/>
            </a:solidFill>
            <a:prstDash val="solid"/>
          </a:ln>
        </p:spPr>
      </p:sp>
      <p:sp>
        <p:nvSpPr>
          <p:cNvPr id="27" name="Card02Header"/>
          <p:cNvSpPr/>
          <p:nvPr/>
        </p:nvSpPr>
        <p:spPr>
          <a:xfrm>
            <a:off x="3749040" y="1965960"/>
            <a:ext cx="3383280" cy="384048"/>
          </a:xfrm>
          <a:prstGeom prst="rect">
            <a:avLst/>
          </a:prstGeom>
          <a:solidFill>
            <a:srgbClr val="E6EDE6"/>
          </a:solidFill>
          <a:ln w="12700">
            <a:solidFill>
              <a:srgbClr val="B8C2B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886200" y="19659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8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251960" y="1965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범위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806440" y="19659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SCOPE</a:t>
            </a:r>
            <a:endParaRPr lang="en-US" sz="850" dirty="0"/>
          </a:p>
        </p:txBody>
      </p:sp>
      <p:sp>
        <p:nvSpPr>
          <p:cNvPr id="31" name="Card02Body"/>
          <p:cNvSpPr txBox="1"/>
          <p:nvPr/>
        </p:nvSpPr>
        <p:spPr>
          <a:xfrm>
            <a:off x="3913632" y="2441448"/>
            <a:ext cx="30540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프로젝트에서 다룰 대상과 경계를 정합니다. 제품·고객·채널·시장 등 포함 / 제외 범위를 간단히 적습니다.</a:t>
            </a:r>
            <a:endParaRPr lang="en-US" sz="1050" dirty="0"/>
          </a:p>
        </p:txBody>
      </p:sp>
      <p:sp>
        <p:nvSpPr>
          <p:cNvPr id="32" name="Card03"/>
          <p:cNvSpPr/>
          <p:nvPr/>
        </p:nvSpPr>
        <p:spPr>
          <a:xfrm>
            <a:off x="7315200" y="1965960"/>
            <a:ext cx="441655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C2BC"/>
            </a:solidFill>
            <a:prstDash val="solid"/>
          </a:ln>
        </p:spPr>
      </p:sp>
      <p:sp>
        <p:nvSpPr>
          <p:cNvPr id="33" name="Card03Header"/>
          <p:cNvSpPr/>
          <p:nvPr/>
        </p:nvSpPr>
        <p:spPr>
          <a:xfrm>
            <a:off x="7315200" y="1965960"/>
            <a:ext cx="4416552" cy="384048"/>
          </a:xfrm>
          <a:prstGeom prst="rect">
            <a:avLst/>
          </a:prstGeom>
          <a:solidFill>
            <a:srgbClr val="E6EDE6"/>
          </a:solidFill>
          <a:ln w="12700">
            <a:solidFill>
              <a:srgbClr val="B8C2B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452360" y="19659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8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818120" y="196596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목표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0405872" y="19659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GOAL</a:t>
            </a:r>
            <a:endParaRPr lang="en-US" sz="850" dirty="0"/>
          </a:p>
        </p:txBody>
      </p:sp>
      <p:sp>
        <p:nvSpPr>
          <p:cNvPr id="37" name="Card03Body"/>
          <p:cNvSpPr txBox="1"/>
          <p:nvPr/>
        </p:nvSpPr>
        <p:spPr>
          <a:xfrm>
            <a:off x="7479792" y="2441448"/>
            <a:ext cx="4087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프로젝트가 끝났을 때 무엇이 달라져 있어야 하는가? 팀이 만들고 싶은 변화 또는 완료 기준을 적습니다.</a:t>
            </a:r>
            <a:endParaRPr lang="en-US" sz="1050" dirty="0"/>
          </a:p>
        </p:txBody>
      </p:sp>
      <p:sp>
        <p:nvSpPr>
          <p:cNvPr id="38" name="Card04"/>
          <p:cNvSpPr/>
          <p:nvPr/>
        </p:nvSpPr>
        <p:spPr>
          <a:xfrm>
            <a:off x="457200" y="3520440"/>
            <a:ext cx="31089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C2BC"/>
            </a:solidFill>
            <a:prstDash val="solid"/>
          </a:ln>
        </p:spPr>
      </p:sp>
      <p:sp>
        <p:nvSpPr>
          <p:cNvPr id="39" name="Card04Header"/>
          <p:cNvSpPr/>
          <p:nvPr/>
        </p:nvSpPr>
        <p:spPr>
          <a:xfrm>
            <a:off x="457200" y="3520440"/>
            <a:ext cx="3108960" cy="384048"/>
          </a:xfrm>
          <a:prstGeom prst="rect">
            <a:avLst/>
          </a:prstGeom>
          <a:solidFill>
            <a:srgbClr val="E6EDE6"/>
          </a:solidFill>
          <a:ln w="12700">
            <a:solidFill>
              <a:srgbClr val="B8C2B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94360" y="35204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8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960120" y="35204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불편 / VOC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2240280" y="35204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CUSTOMER PAIN</a:t>
            </a:r>
            <a:endParaRPr lang="en-US" sz="850" dirty="0"/>
          </a:p>
        </p:txBody>
      </p:sp>
      <p:sp>
        <p:nvSpPr>
          <p:cNvPr id="43" name="Card04Body"/>
          <p:cNvSpPr txBox="1"/>
          <p:nvPr/>
        </p:nvSpPr>
        <p:spPr>
          <a:xfrm>
            <a:off x="621792" y="3995928"/>
            <a:ext cx="2779776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고객은 누구이며 어떤 상황에서 무엇이 불편한가? 현재 알고 있는 고객의 말·행동·근거 또는 팀의 가설을 적습니다.</a:t>
            </a:r>
            <a:endParaRPr lang="en-US" sz="1050" dirty="0"/>
          </a:p>
        </p:txBody>
      </p:sp>
      <p:sp>
        <p:nvSpPr>
          <p:cNvPr id="44" name="Card05"/>
          <p:cNvSpPr/>
          <p:nvPr/>
        </p:nvSpPr>
        <p:spPr>
          <a:xfrm>
            <a:off x="3749040" y="3520440"/>
            <a:ext cx="33832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C2BC"/>
            </a:solidFill>
            <a:prstDash val="solid"/>
          </a:ln>
        </p:spPr>
      </p:sp>
      <p:sp>
        <p:nvSpPr>
          <p:cNvPr id="45" name="Card05Header"/>
          <p:cNvSpPr/>
          <p:nvPr/>
        </p:nvSpPr>
        <p:spPr>
          <a:xfrm>
            <a:off x="3749040" y="3520440"/>
            <a:ext cx="3383280" cy="384048"/>
          </a:xfrm>
          <a:prstGeom prst="rect">
            <a:avLst/>
          </a:prstGeom>
          <a:solidFill>
            <a:srgbClr val="E6EDE6"/>
          </a:solidFill>
          <a:ln w="12700">
            <a:solidFill>
              <a:srgbClr val="B8C2B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886200" y="35204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8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4251960" y="35204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일정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5806440" y="35204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MILESTONE</a:t>
            </a:r>
            <a:endParaRPr lang="en-US" sz="850" dirty="0"/>
          </a:p>
        </p:txBody>
      </p:sp>
      <p:sp>
        <p:nvSpPr>
          <p:cNvPr id="49" name="Card06"/>
          <p:cNvSpPr/>
          <p:nvPr/>
        </p:nvSpPr>
        <p:spPr>
          <a:xfrm>
            <a:off x="7315200" y="3520440"/>
            <a:ext cx="4416552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C2BC"/>
            </a:solidFill>
            <a:prstDash val="solid"/>
          </a:ln>
        </p:spPr>
      </p:sp>
      <p:sp>
        <p:nvSpPr>
          <p:cNvPr id="50" name="Card06Header"/>
          <p:cNvSpPr/>
          <p:nvPr/>
        </p:nvSpPr>
        <p:spPr>
          <a:xfrm>
            <a:off x="7315200" y="3520440"/>
            <a:ext cx="4416552" cy="384048"/>
          </a:xfrm>
          <a:prstGeom prst="rect">
            <a:avLst/>
          </a:prstGeom>
          <a:solidFill>
            <a:srgbClr val="E6EDE6"/>
          </a:solidFill>
          <a:ln w="12700">
            <a:solidFill>
              <a:srgbClr val="B8C2B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452360" y="35204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8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7818120" y="352044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&amp; 역할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10405872" y="35204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&amp; ROLE</a:t>
            </a:r>
            <a:endParaRPr lang="en-US" sz="850" dirty="0"/>
          </a:p>
        </p:txBody>
      </p:sp>
      <p:sp>
        <p:nvSpPr>
          <p:cNvPr id="54" name="Card05Body"/>
          <p:cNvSpPr txBox="1"/>
          <p:nvPr/>
        </p:nvSpPr>
        <p:spPr>
          <a:xfrm>
            <a:off x="3913632" y="3995928"/>
            <a:ext cx="3054096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문제정의·Team Charter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8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(1주)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조사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8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(2주)</a:t>
            </a:r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브랜드, 경쟁사, VOC, 파트너 후보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중간안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8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(2주)</a:t>
            </a:r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세분화·페르소나, USP·메시지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시안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8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(2주)</a:t>
            </a:r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4주 콘텐츠 플랜, SNS 시안 3개, 랜딩/FAQ 구조, B2B 제휴 뼈대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최종발표</a:t>
            </a:r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가설 포함 통합본</a:t>
            </a:r>
            <a:endParaRPr lang="en-US" sz="1100" dirty="0"/>
          </a:p>
        </p:txBody>
      </p:sp>
      <p:sp>
        <p:nvSpPr>
          <p:cNvPr id="55" name="Card06Body"/>
          <p:cNvSpPr txBox="1"/>
          <p:nvPr/>
        </p:nvSpPr>
        <p:spPr>
          <a:xfrm>
            <a:off x="7479792" y="3995928"/>
            <a:ext cx="4087368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B8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 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강보경, 김수연, 최유미, 문세련, 신다정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B8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2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문세련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입점 채널 발굴 / 마케팅 이벤트 제안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2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최유미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온라인채널 중심 커뮤니티 고객인지도 서치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2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김수연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마케팅 (B2C 컨텐츠 플랜과 SNS 시안) 제안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2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신다정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구매전환 콘텐츠 기획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2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강보경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라파앤코 사이트 분석, 경쟁사 조사 &gt; 고객 피드백 확인, B2B·B2C 제휴 채널 리서치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B8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의사결정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모두가 함께 아이디어를 제안하고 합의하여 결정 (의견 충돌 시 다수결)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B8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협업원칙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의견을 존중하고 함께 작업하여 최대한 업무 부담을 줄이는 쪽으로 프로젝트 진행 예정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B8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소통 채널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카카오톡, Google Doc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9525">
            <a:solidFill>
              <a:srgbClr val="B8C2BC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57200" y="6537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8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TIP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1280160" y="653796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8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항목 2~4줄이면 충분합니다. 지금은 "정답"보다 현재 팀의 합의와 가설을 명확히 남기는 것이 목적입니다.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11155680" y="6537960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CHARTER - TEAM 05 라파앤코</dc:title>
  <dc:subject>PptxGenJS Presentation</dc:subject>
  <dc:creator>PptxGenJS</dc:creator>
  <cp:lastModifiedBy>PptxGenJS</cp:lastModifiedBy>
  <cp:revision>1</cp:revision>
  <dcterms:created xsi:type="dcterms:W3CDTF">2026-10-08T07:51:37Z</dcterms:created>
  <dcterms:modified xsi:type="dcterms:W3CDTF">2026-10-08T07:51:37Z</dcterms:modified>
</cp:coreProperties>
</file>