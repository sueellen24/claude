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18288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 CHARTER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023360" y="18288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문제정의 &amp; 프로젝트 합의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046720" y="182880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SeSAC AI 기반 K-뷰티 인재양성 부트캠프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8046720" y="429768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BRANUPCAMPUS · EDUCOS</a:t>
            </a:r>
            <a:endParaRPr lang="en-US" sz="950" dirty="0"/>
          </a:p>
        </p:txBody>
      </p:sp>
      <p:sp>
        <p:nvSpPr>
          <p:cNvPr id="6" name="InfoBar"/>
          <p:cNvSpPr/>
          <p:nvPr/>
        </p:nvSpPr>
        <p:spPr>
          <a:xfrm>
            <a:off x="457200" y="822960"/>
            <a:ext cx="11274552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8229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/ 브랜드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82296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라파앤코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600200" y="1161288"/>
            <a:ext cx="2057400" cy="0"/>
          </a:xfrm>
          <a:prstGeom prst="line">
            <a:avLst/>
          </a:prstGeom>
          <a:noFill/>
          <a:ln w="9525">
            <a:solidFill>
              <a:srgbClr val="8C968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931920" y="8229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팀명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892040" y="8229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 05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892040" y="1161288"/>
            <a:ext cx="1143000" cy="0"/>
          </a:xfrm>
          <a:prstGeom prst="line">
            <a:avLst/>
          </a:prstGeom>
          <a:noFill/>
          <a:ln w="9525">
            <a:solidFill>
              <a:srgbClr val="8C968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09360" y="8229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과제명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7269480" y="8229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269480" y="1161288"/>
            <a:ext cx="2331720" cy="0"/>
          </a:xfrm>
          <a:prstGeom prst="line">
            <a:avLst/>
          </a:prstGeom>
          <a:noFill/>
          <a:ln w="9525">
            <a:solidFill>
              <a:srgbClr val="8C968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875520" y="82296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835640" y="822960"/>
            <a:ext cx="822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835640" y="1161288"/>
            <a:ext cx="777240" cy="0"/>
          </a:xfrm>
          <a:prstGeom prst="line">
            <a:avLst/>
          </a:prstGeom>
          <a:noFill/>
          <a:ln w="9525">
            <a:solidFill>
              <a:srgbClr val="8C968F"/>
            </a:solidFill>
            <a:prstDash val="solid"/>
          </a:ln>
        </p:spPr>
      </p:sp>
      <p:sp>
        <p:nvSpPr>
          <p:cNvPr id="19" name="Card01"/>
          <p:cNvSpPr/>
          <p:nvPr/>
        </p:nvSpPr>
        <p:spPr>
          <a:xfrm>
            <a:off x="457200" y="1371600"/>
            <a:ext cx="59436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20" name="Card01Header"/>
          <p:cNvSpPr/>
          <p:nvPr/>
        </p:nvSpPr>
        <p:spPr>
          <a:xfrm>
            <a:off x="457200" y="1371600"/>
            <a:ext cx="5943600" cy="329184"/>
          </a:xfrm>
          <a:prstGeom prst="rect">
            <a:avLst/>
          </a:prstGeom>
          <a:solidFill>
            <a:srgbClr val="E6EDE6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137160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1371600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케이스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303520" y="13716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BUSINESS CASE</a:t>
            </a:r>
            <a:endParaRPr lang="en-US" sz="750" dirty="0"/>
          </a:p>
        </p:txBody>
      </p:sp>
      <p:sp>
        <p:nvSpPr>
          <p:cNvPr id="24" name="Card02"/>
          <p:cNvSpPr/>
          <p:nvPr/>
        </p:nvSpPr>
        <p:spPr>
          <a:xfrm>
            <a:off x="6583680" y="1371600"/>
            <a:ext cx="274320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25" name="Card02Header"/>
          <p:cNvSpPr/>
          <p:nvPr/>
        </p:nvSpPr>
        <p:spPr>
          <a:xfrm>
            <a:off x="6583680" y="1371600"/>
            <a:ext cx="2743200" cy="329184"/>
          </a:xfrm>
          <a:prstGeom prst="rect">
            <a:avLst/>
          </a:prstGeom>
          <a:solidFill>
            <a:srgbClr val="E6EDE6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693408" y="137160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7040880" y="1371600"/>
            <a:ext cx="1234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범위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229600" y="13716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SCOPE</a:t>
            </a:r>
            <a:endParaRPr lang="en-US" sz="750" dirty="0"/>
          </a:p>
        </p:txBody>
      </p:sp>
      <p:sp>
        <p:nvSpPr>
          <p:cNvPr id="29" name="Card03"/>
          <p:cNvSpPr/>
          <p:nvPr/>
        </p:nvSpPr>
        <p:spPr>
          <a:xfrm>
            <a:off x="9509760" y="1371600"/>
            <a:ext cx="2221992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30" name="Card03Header"/>
          <p:cNvSpPr/>
          <p:nvPr/>
        </p:nvSpPr>
        <p:spPr>
          <a:xfrm>
            <a:off x="9509760" y="1371600"/>
            <a:ext cx="2221992" cy="329184"/>
          </a:xfrm>
          <a:prstGeom prst="rect">
            <a:avLst/>
          </a:prstGeom>
          <a:solidFill>
            <a:srgbClr val="E6EDE6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9619488" y="137160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9966960" y="1371600"/>
            <a:ext cx="7132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목표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10634472" y="13716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PROJECT GOAL</a:t>
            </a:r>
            <a:endParaRPr lang="en-US" sz="750" dirty="0"/>
          </a:p>
        </p:txBody>
      </p:sp>
      <p:sp>
        <p:nvSpPr>
          <p:cNvPr id="34" name="Card04"/>
          <p:cNvSpPr/>
          <p:nvPr/>
        </p:nvSpPr>
        <p:spPr>
          <a:xfrm>
            <a:off x="457200" y="4069080"/>
            <a:ext cx="33375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35" name="Card04Header"/>
          <p:cNvSpPr/>
          <p:nvPr/>
        </p:nvSpPr>
        <p:spPr>
          <a:xfrm>
            <a:off x="457200" y="4069080"/>
            <a:ext cx="3337560" cy="329184"/>
          </a:xfrm>
          <a:prstGeom prst="rect">
            <a:avLst/>
          </a:prstGeom>
          <a:solidFill>
            <a:srgbClr val="E6EDE6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6928" y="406908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914400" y="406908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불편 / VOC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2697480" y="40690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CUSTOMER PAIN</a:t>
            </a:r>
            <a:endParaRPr lang="en-US" sz="750" dirty="0"/>
          </a:p>
        </p:txBody>
      </p:sp>
      <p:sp>
        <p:nvSpPr>
          <p:cNvPr id="39" name="Card05"/>
          <p:cNvSpPr/>
          <p:nvPr/>
        </p:nvSpPr>
        <p:spPr>
          <a:xfrm>
            <a:off x="3977640" y="4069080"/>
            <a:ext cx="2542032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40" name="Card05Header"/>
          <p:cNvSpPr/>
          <p:nvPr/>
        </p:nvSpPr>
        <p:spPr>
          <a:xfrm>
            <a:off x="3977640" y="4069080"/>
            <a:ext cx="2542032" cy="329184"/>
          </a:xfrm>
          <a:prstGeom prst="rect">
            <a:avLst/>
          </a:prstGeom>
          <a:solidFill>
            <a:srgbClr val="E6EDE6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4087368" y="406908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4434840" y="4069080"/>
            <a:ext cx="1033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일정</a:t>
            </a:r>
            <a:endParaRPr lang="en-US" sz="1250" dirty="0"/>
          </a:p>
        </p:txBody>
      </p:sp>
      <p:sp>
        <p:nvSpPr>
          <p:cNvPr id="43" name="Text 41"/>
          <p:cNvSpPr txBox="1"/>
          <p:nvPr/>
        </p:nvSpPr>
        <p:spPr>
          <a:xfrm>
            <a:off x="5422392" y="40690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MILESTONE</a:t>
            </a:r>
            <a:endParaRPr lang="en-US" sz="750" dirty="0"/>
          </a:p>
        </p:txBody>
      </p:sp>
      <p:sp>
        <p:nvSpPr>
          <p:cNvPr id="44" name="Card06"/>
          <p:cNvSpPr/>
          <p:nvPr/>
        </p:nvSpPr>
        <p:spPr>
          <a:xfrm>
            <a:off x="6702552" y="4069080"/>
            <a:ext cx="5029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45" name="Card06Header"/>
          <p:cNvSpPr/>
          <p:nvPr/>
        </p:nvSpPr>
        <p:spPr>
          <a:xfrm>
            <a:off x="6702552" y="4069080"/>
            <a:ext cx="5029200" cy="329184"/>
          </a:xfrm>
          <a:prstGeom prst="rect">
            <a:avLst/>
          </a:prstGeom>
          <a:solidFill>
            <a:srgbClr val="E6EDE6"/>
          </a:solidFill>
          <a:ln w="12700">
            <a:solidFill>
              <a:srgbClr val="B8C2BC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12280" y="4069080"/>
            <a:ext cx="320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en-US" sz="1050" dirty="0"/>
          </a:p>
        </p:txBody>
      </p:sp>
      <p:sp>
        <p:nvSpPr>
          <p:cNvPr id="47" name="Text 45"/>
          <p:cNvSpPr txBox="1"/>
          <p:nvPr/>
        </p:nvSpPr>
        <p:spPr>
          <a:xfrm>
            <a:off x="7159752" y="4069080"/>
            <a:ext cx="3520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&amp; 역할</a:t>
            </a:r>
            <a:endParaRPr lang="en-US" sz="1250" dirty="0"/>
          </a:p>
        </p:txBody>
      </p:sp>
      <p:sp>
        <p:nvSpPr>
          <p:cNvPr id="48" name="Text 46"/>
          <p:cNvSpPr txBox="1"/>
          <p:nvPr/>
        </p:nvSpPr>
        <p:spPr>
          <a:xfrm>
            <a:off x="10634472" y="406908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TEAM &amp; ROLE</a:t>
            </a:r>
            <a:endParaRPr lang="en-US" sz="750" dirty="0"/>
          </a:p>
        </p:txBody>
      </p:sp>
      <p:sp>
        <p:nvSpPr>
          <p:cNvPr id="49" name="Card01Body"/>
          <p:cNvSpPr txBox="1"/>
          <p:nvPr/>
        </p:nvSpPr>
        <p:spPr>
          <a:xfrm>
            <a:off x="594360" y="1773936"/>
            <a:ext cx="5669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기업 관점</a:t>
            </a:r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채널 확대를 통한 주요 아이템 매출 증대 목표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타깃 고객 대상 브랜드 핵심 메세지 전달(공감 &amp; 신뢰 구축)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핵심 메세지가 담긴 컨텐츠 및 SNS 시안을 통한 커뮤니케이션 확대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관점</a:t>
            </a:r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신생 브랜드라 인지도와 신뢰를 쌓아야 하며, 다음 성장 단계도 필요하다고 판단. 국내 암환자들이 안심하고 사용할 수 있는 국내 브랜드가 필요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시장 관점</a:t>
            </a:r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국내 암 유병자는 2023년 기준 273만 명으로 국민 19명 중 1명이며, 5년 생존율이 73.7%에 이르러 암을 겪은 후에도 오래 일상을 살아가는 사람이 늘고 있습니다. 그러나 이들은 치료 과정에서 피부 변화와 성분에 대한 불안을 겪으면서도, 어떤 제품을 믿고 써도 되는지 판단할 근거를 얻기 어렵습니다. 라파앤코는 암 환자 맞춤형 피부 솔루션이라는 전문성을 갖고 있으나, 이를 고객이 안심할 수 있는 신뢰로 전달하는 구조가 필요합니다.</a:t>
            </a:r>
            <a:endParaRPr lang="en-US" sz="950" dirty="0"/>
          </a:p>
        </p:txBody>
      </p:sp>
      <p:sp>
        <p:nvSpPr>
          <p:cNvPr id="50" name="Card02Body"/>
          <p:cNvSpPr txBox="1"/>
          <p:nvPr/>
        </p:nvSpPr>
        <p:spPr>
          <a:xfrm>
            <a:off x="6720840" y="1773936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B2C/B2B 타깃 세분화·페르소나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타깃별 USP·핵심 메시지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B2C 4주 콘텐츠 플랜과 SNS 시안 3개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Landing/FAQ(구매전환) 구조 1안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 Partner Map·제휴 제안서 Skeleton·Contact Action Plan</a:t>
            </a:r>
            <a:endParaRPr lang="en-US" sz="10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가설</a:t>
            </a:r>
            <a:endParaRPr lang="en-US" sz="1000" dirty="0"/>
          </a:p>
        </p:txBody>
      </p:sp>
      <p:sp>
        <p:nvSpPr>
          <p:cNvPr id="51" name="Card03Body"/>
          <p:cNvSpPr txBox="1"/>
          <p:nvPr/>
        </p:nvSpPr>
        <p:spPr>
          <a:xfrm>
            <a:off x="9646920" y="1773936"/>
            <a:ext cx="1947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라파앤코의 브랜드 인지도 확대를 통한 키아이템 매출 성장</a:t>
            </a: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</a:t>
            </a:r>
            <a:pPr indent="0" marL="0">
              <a:spcAft>
                <a:spcPts val="200"/>
              </a:spcAft>
              <a:buNone/>
            </a:pPr>
            <a:endParaRPr lang="en-US" sz="1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암환자 및 가족 + 의료직군대상</a:t>
            </a:r>
            <a:endParaRPr lang="en-US" sz="1000" dirty="0"/>
          </a:p>
        </p:txBody>
      </p:sp>
      <p:sp>
        <p:nvSpPr>
          <p:cNvPr id="52" name="Card04Body"/>
          <p:cNvSpPr txBox="1"/>
          <p:nvPr/>
        </p:nvSpPr>
        <p:spPr>
          <a:xfrm>
            <a:off x="594360" y="4471416"/>
            <a:ext cx="30632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B2C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환자 본인·가족/친구·문제성 피부 고객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투병 중 달라진 피부에 무엇을 써도 불안하고 과장 광고와 의학적 오해를 부르는 표현에 거부감을 느껴, 구매 전 비교/검증 과정에서 믿을만한 근거가 필요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B2B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암 커뮤니티·복지기관·암센터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 소개만으로는 협력 이유를 알기 어렵고, 교육·샘플·복지 연계처럼 실행 가능한 제휴 모델과 후속 접촉 방식이 필요</a:t>
            </a:r>
            <a:endParaRPr lang="en-US" sz="950" dirty="0"/>
          </a:p>
        </p:txBody>
      </p:sp>
      <p:sp>
        <p:nvSpPr>
          <p:cNvPr id="53" name="Card05Body"/>
          <p:cNvSpPr txBox="1"/>
          <p:nvPr/>
        </p:nvSpPr>
        <p:spPr>
          <a:xfrm>
            <a:off x="4114800" y="4471416"/>
            <a:ext cx="22677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 문제정의·Team Charter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(1주)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 조사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(2주)</a:t>
            </a:r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브랜드, 경쟁사, VOC, 파트너 후보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 중간안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(2주)</a:t>
            </a:r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세분화·페르소나, USP·메시지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 시안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(2주)</a:t>
            </a:r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4주 콘텐츠 플랜, SNS 시안 3개, 랜딩/FAQ 구조, B2B 제휴 뼈대</a:t>
            </a: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5. 최종발표</a:t>
            </a:r>
            <a:pPr indent="0" marL="0">
              <a:spcAft>
                <a:spcPts val="200"/>
              </a:spcAft>
              <a:buNone/>
            </a:pPr>
            <a:endParaRPr lang="en-US" sz="9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가설 포함 통합본</a:t>
            </a:r>
            <a:endParaRPr lang="en-US" sz="950" dirty="0"/>
          </a:p>
        </p:txBody>
      </p:sp>
      <p:sp>
        <p:nvSpPr>
          <p:cNvPr id="54" name="Card06Body"/>
          <p:cNvSpPr txBox="1"/>
          <p:nvPr/>
        </p:nvSpPr>
        <p:spPr>
          <a:xfrm>
            <a:off x="6839712" y="4471416"/>
            <a:ext cx="47548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 </a:t>
            </a:r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강보경, 김수연, 최유미, 문세련, 신다정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</a:t>
            </a:r>
            <a:pPr indent="0" marL="0">
              <a:spcAft>
                <a:spcPts val="100"/>
              </a:spcAft>
              <a:buNone/>
            </a:pP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문세련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입점 채널 발굴 / 마케팅 이벤트 제안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최유미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온라인채널 중심 커뮤니티 고객인지도 서치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김수연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온라인 마케팅 (B2C 컨텐츠 플랜과 SNS 시안) 제안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신다정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구매전환 콘텐츠 기획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23B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강보경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라파앤코 사이트 분석, 경쟁사 조사 &gt; 고객 피드백 확인, B2B·B2C 제휴 채널 리서치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의사결정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모두가 함께 아이디어를 제안하고 합의하여 결정 (의견 충돌 시 다수결)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협업원칙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의견을 존중하고 함께 작업하여 최대한 업무 부담을 줄이는 쪽으로 프로젝트 진행 예정</a:t>
            </a:r>
            <a:endParaRPr lang="en-US" sz="95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5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소통 채널  </a:t>
            </a:r>
            <a:pPr indent="0" marL="0">
              <a:spcAft>
                <a:spcPts val="100"/>
              </a:spcAft>
              <a:buNone/>
            </a:pPr>
            <a:r>
              <a:rPr lang="en-US" sz="950" dirty="0">
                <a:solidFill>
                  <a:srgbClr val="2222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카카오톡, Google Doc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457200" y="6492240"/>
            <a:ext cx="11274552" cy="0"/>
          </a:xfrm>
          <a:prstGeom prst="line">
            <a:avLst/>
          </a:prstGeom>
          <a:noFill/>
          <a:ln w="9525">
            <a:solidFill>
              <a:srgbClr val="B8C2BC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57200" y="653796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 TIP</a:t>
            </a:r>
            <a:endParaRPr lang="en-US" sz="900" dirty="0"/>
          </a:p>
        </p:txBody>
      </p:sp>
      <p:sp>
        <p:nvSpPr>
          <p:cNvPr id="57" name="Text 55"/>
          <p:cNvSpPr txBox="1"/>
          <p:nvPr/>
        </p:nvSpPr>
        <p:spPr>
          <a:xfrm>
            <a:off x="1280160" y="653796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8A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항목 2~4줄이면 충분합니다. 지금은 "정답"보다 현재 팀의 합의와 가설을 명확히 남기는 것이 목적입니다.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11155680" y="6537960"/>
            <a:ext cx="5760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TEAM CHARTER - TEAM 05 라파앤코</dc:title>
  <dc:subject>PptxGenJS Presentation</dc:subject>
  <dc:creator>PptxGenJS</dc:creator>
  <cp:lastModifiedBy>PptxGenJS</cp:lastModifiedBy>
  <cp:revision>1</cp:revision>
  <dcterms:created xsi:type="dcterms:W3CDTF">2026-10-08T08:05:41Z</dcterms:created>
  <dcterms:modified xsi:type="dcterms:W3CDTF">2026-10-08T08:05:41Z</dcterms:modified>
</cp:coreProperties>
</file>